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emf" ContentType="image/x-emf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/ppt/slides/slide3.xml"/><Relationship Id="rId5" Type="http://schemas.openxmlformats.org/officeDocument/2006/relationships/theme" Target="theme/theme1.xml"/><Relationship Id="rId6" Type="http://schemas.openxmlformats.org/officeDocument/2006/relationships/slide" Target="slides/slide4.xml"/><Relationship Id="rId7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GB"/>
              <a:t>Say hello</a:t>
            </a:r>
          </a:p>
          <a:p/>
          <a:p>
            <a:r>
              <a:rPr lang="en-GB"/>
              <a:t>Then go on &amp; on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838200" y="2000000"/>
            <a:ext cx="10515600" cy="400000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GB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defRPr sz="2400"/>
            </a:lvl1pPr>
          </a:lstStyle>
          <a:p>
            <a:endParaRPr lang="en-GB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&lt;#&gt;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text styles</a:t>
            </a:r>
          </a:p>
        </p:txBody>
      </p:sp>
      <p:sp>
        <p:nvSpPr>
          <p:cNvPr id="4" name="Slide Number Placeholder 3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GB"/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>
        <a:defRPr sz="2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diagramData" Target="../diagrams/data1.xml"/><Relationship Id="rId5" Type="http://schemas.openxmlformats.org/officeDocument/2006/relationships/video" Target="https://example.com/clip.mp4" TargetMode="External"/><Relationship Id="rId6" Type="http://schemas.openxmlformats.org/officeDocument/2006/relationships/image" Target="../media/image3.emf"/><Relationship Id="rId7" Type="http://schemas.openxmlformats.org/officeDocument/2006/relationships/customXml" Target="../ink/ink1.xml"/><Relationship Id="rId8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/news" TargetMode="External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" name="Group 9"/>
          <p:cNvGrpSpPr/>
          <p:nvPr/>
        </p:nvGrpSpPr>
        <p:grpSpPr>
          <a:xfrm>
            <a:off x="952500" y="952500"/>
            <a:ext cx="3810000" cy="1905000"/>
            <a:chOff x="0" y="0"/>
            <a:chExt cx="1905000" cy="9525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  <a:solidFill>
              <a:schemeClr val="accent6"/>
            </a:solidFill>
          </p:spPr>
        </p:sp>
        <p:sp>
          <p:nvSpPr>
            <p:cNvPr id="12" name="TextBox 11"/>
            <p:cNvSpPr txBox="1"/>
            <p:nvPr/>
          </p:nvSpPr>
          <p:spPr>
            <a:xfrm>
              <a:off x="95250" y="95250"/>
              <a:ext cx="1714500" cy="762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lang="en-GB" sz="2000">
                  <a:solidFill>
                    <a:srgbClr val="FFFFFF"/>
                  </a:solidFill>
                  <a:latin typeface="Comic Sans MS"/>
                </a:rPr>
                <a:t>Up </a:t>
              </a:r>
              <a:r>
                <a:rPr lang="en-GB" sz="3000" i="1">
                  <a:solidFill>
                    <a:srgbClr val="FFC000"/>
                  </a:solidFill>
                  <a:latin typeface="Playfair Display"/>
                </a:rPr>
                <a:t>12%</a:t>
              </a:r>
              <a:br>
                <a:rPr lang="en-GB"/>
              </a:br>
              <a:r>
                <a:rPr lang="en-GB" sz="2000">
                  <a:solidFill>
                    <a:srgbClr val="FFFFFF"/>
                  </a:solidFill>
                  <a:latin typeface="Comic Sans MS"/>
                </a:rPr>
                <a:t>on last year</a:t>
              </a:r>
            </a:p>
          </p:txBody>
        </p:sp>
      </p:grpSp>
      <p:graphicFrame>
        <p:nvGraphicFramePr>
          <p:cNvPr id="20" name="Table 19"/>
          <p:cNvGraphicFramePr/>
          <p:nvPr/>
        </p:nvGraphicFramePr>
        <p:xfrm>
          <a:off x="952500" y="3810000"/>
          <a:ext cx="5715000" cy="1143000"/>
        </p:xfrm>
        <a:graphic>
          <a:graphicData uri="http://schemas.openxmlformats.org/drawingml/2006/table">
            <a:tbl>
              <a:tblPr firstRow="1"/>
              <a:tblGrid>
                <a:gridCol w="1905000"/>
                <a:gridCol w="1905000"/>
                <a:gridCol w="1905000"/>
              </a:tblGrid>
              <a:tr h="381000">
                <a:tc>
                  <a:txBody>
                    <a:bodyPr/>
                    <a:lstStyle/>
                    <a:p>
                      <a:r>
                        <a:rPr lang="en-GB" sz="1400"/>
                        <a:t>Region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400"/>
                        <a:t>Sales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81000">
                <a:tc rowSpan="2">
                  <a:txBody>
                    <a:bodyPr/>
                    <a:lstStyle/>
                    <a:p>
                      <a:r>
                        <a:rPr lang="en-GB" sz="1400"/>
                        <a:t>North &amp; 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15</a:t>
                      </a:r>
                    </a:p>
                  </a:txBody>
                  <a:tcPr/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9</a:t>
                      </a:r>
                    </a:p>
                  </a:txBody>
                  <a:tcPr marL="0" marT="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Frame 21"/>
          <p:cNvGraphicFramePr/>
          <p:nvPr/>
        </p:nvGraphicFramePr>
        <p:xfrm>
          <a:off x="0" y="0"/>
          <a:ext cx="952500" cy="952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2" name="Frame 22"/>
          <p:cNvGraphicFramePr/>
          <p:nvPr/>
        </p:nvGraphicFramePr>
        <p:xfrm>
          <a:off x="0" y="0"/>
          <a:ext cx="952500" cy="952500"/>
        </p:xfrm>
        <a:graphic>
          <a:graphicData uri="http://schemas.openxmlformats.org/drawingml/2006/diagram">
            <dgm:relIds xmlns:dgm="http://schemas.openxmlformats.org/drawingml/2006/diagram" r:dm="rId4"/>
          </a:graphicData>
        </a:graphic>
      </p:graphicFrame>
      <p:pic>
        <p:nvPicPr>
          <p:cNvPr id="23" name="Video 22"/>
          <p:cNvPicPr/>
          <p:nvPr>
            <a:videoFile r:link="rId5"/>
          </p:nvPr>
        </p:nvPicPr>
        <p:blipFill>
          <a:blip r:embed="rId2"/>
        </p:blipFill>
        <p:spPr>
          <a:xfrm>
            <a:off x="0" y="0"/>
            <a:ext cx="952500" cy="952500"/>
          </a:xfrm>
        </p:spPr>
      </p:pic>
      <p:pic>
        <p:nvPicPr>
          <p:cNvPr id="24" name="Picture 23"/>
          <p:cNvPicPr/>
          <p:nvPr/>
        </p:nvPicPr>
        <p:blipFill>
          <a:blip r:embed="rId6"/>
        </p:blipFill>
        <p:spPr>
          <a:xfrm>
            <a:off x="0" y="0"/>
            <a:ext cx="952500" cy="952500"/>
          </a:xfrm>
        </p:spPr>
      </p:pic>
      <p:sp>
        <p:nvSpPr>
          <p:cNvPr id="25" name="Star 24"/>
          <p:cNvSpPr/>
          <p:nvPr/>
        </p:nvSpPr>
        <p:spPr>
          <a:xfrm>
            <a:off x="9525000" y="4762500"/>
            <a:ext cx="952500" cy="952500"/>
          </a:xfrm>
          <a:prstGeom prst="star5">
            <a:avLst/>
          </a:prstGeom>
          <a:solidFill>
            <a:srgbClr val="FFC000"/>
          </a:solidFill>
        </p:spPr>
      </p:sp>
      <mc:AlternateContent xmlns:mc="http://schemas.openxmlformats.org/markup-compatibility/2006">
        <mc:Choice xmlns:p14="http://schemas.microsoft.com/office/powerpoint/2010/main" Requires="p14">
          <p:contentPart r:id="rId7"/>
        </mc:Choice>
        <mc:Fallback>
          <p:sp>
            <p:nvSpPr>
              <p:cNvPr id="26" name="Ellipse 25"/>
              <p:cNvSpPr/>
              <p:nvPr/>
            </p:nvSpPr>
            <p:spPr>
              <a:xfrm>
                <a:off x="10477500" y="4762500"/>
                <a:ext cx="952500" cy="952500"/>
              </a:xfrm>
              <a:prstGeom prst="ellipse">
                <a:avLst/>
              </a:prstGeom>
              <a:solidFill>
                <a:srgbClr val="7030A0"/>
              </a:solidFill>
            </p:spPr>
          </p:sp>
        </mc:Fallback>
      </mc:AlternateContent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GB"/>
              <a:t>Welcome to </a:t>
            </a:r>
            <a:r>
              <a:rPr lang="en-GB" b="1">
                <a:latin typeface="Calibri Light"/>
              </a:rPr>
              <a:t>Canvia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GB" sz="2400">
                <a:latin typeface="Lora"/>
              </a:rPr>
              <a:t>First point</a:t>
            </a:r>
          </a:p>
          <a:p>
            <a:r>
              <a:rPr lang="en-GB" sz="2400" i="1">
                <a:latin typeface="Lora"/>
              </a:rPr>
              <a:t>Second</a:t>
            </a:r>
            <a:r>
              <a:rPr lang="en-GB" sz="2400">
                <a:latin typeface="Lora"/>
              </a:rPr>
              <a:t>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0" y="5715000"/>
            <a:ext cx="1905000" cy="952500"/>
          </a:xfrm>
          <a:prstGeom prst="rect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0000"/>
            </a:solidFill>
          </a:ln>
        </p:spPr>
      </p:sp>
      <p:sp>
        <p:nvSpPr>
          <p:cNvPr id="5" name="Rounded Rectangle 4"/>
          <p:cNvSpPr/>
          <p:nvPr/>
        </p:nvSpPr>
        <p:spPr>
          <a:xfrm rot="5400000" flipH="1">
            <a:off x="3048000" y="5715000"/>
            <a:ext cx="1905000" cy="952500"/>
          </a:xfrm>
          <a:prstGeom prst="roundRect">
            <a:avLst>
              <a:gd name="adj" fmla="val 25000"/>
            </a:avLst>
          </a:prstGeom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Oval 5"/>
          <p:cNvSpPr/>
          <p:nvPr/>
        </p:nvSpPr>
        <p:spPr>
          <a:xfrm>
            <a:off x="5143500" y="5715000"/>
            <a:ext cx="952500" cy="9525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accent2"/>
              </a:gs>
            </a:gsLst>
            <a:lin ang="0"/>
          </a:gradFill>
        </p:spPr>
      </p:sp>
      <p:sp>
        <p:nvSpPr>
          <p:cNvPr id="7" name="Triangle 6"/>
          <p:cNvSpPr/>
          <p:nvPr/>
        </p:nvSpPr>
        <p:spPr>
          <a:xfrm>
            <a:off x="6667500" y="5715000"/>
            <a:ext cx="952500" cy="952500"/>
          </a:xfrm>
          <a:prstGeom prst="triangle">
            <a:avLst/>
          </a:prstGeom>
          <a:noFill/>
          <a:ln w="38100">
            <a:solidFill>
              <a:schemeClr val="tx2"/>
            </a:solidFill>
            <a:prstDash val="dash"/>
          </a:ln>
        </p:spPr>
        <p:txBody>
          <a:bodyPr lIns="0" tIns="0" rIns="0" bIns="0" anchor="b"/>
          <a:lstStyle/>
          <a:p>
            <a:pPr algn="r"/>
            <a:r>
              <a:rPr lang="en-GB" sz="1200" u="sng">
                <a:solidFill>
                  <a:srgbClr val="00AA00"/>
                </a:solidFill>
              </a:rPr>
              <a:t>Up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2000" y="5715000"/>
            <a:ext cx="1905000" cy="952500"/>
          </a:xfrm>
          <a:prstGeom prst="straightConnector1">
            <a:avLst/>
          </a:prstGeom>
          <a:ln w="28575">
            <a:solidFill>
              <a:srgbClr val="3366FF"/>
            </a:solidFill>
            <a:prstDash val="sysDot"/>
          </a:ln>
        </p:spPr>
      </p:cxnSp>
      <p:pic>
        <p:nvPicPr>
          <p:cNvPr id="9" name="Picture 8" descr="A square"/>
          <p:cNvPicPr/>
          <p:nvPr/>
        </p:nvPicPr>
        <p:blipFill>
          <a:blip r:embed="rId2"/>
          <a:stretch>
            <a:fillRect/>
          </a:stretch>
        </p:blipFill>
        <p:spPr>
          <a:xfrm rot="1800000">
            <a:off x="10287000" y="476250"/>
            <a:ext cx="1428750" cy="142875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pPr algn="ctr"/>
            <a:r>
              <a:rPr lang="en-GB" sz="6000"/>
              <a:t>Thanks</a:t>
            </a:r>
            <a:r>
              <a:rPr lang="en-GB" sz="6000"/>
              <a:t>!</a:t>
            </a:r>
          </a:p>
        </p:txBody>
      </p:sp>
      <p:sp>
        <p:nvSpPr>
          <p:cNvPr id="3" name="Hidden 2" hidden="1"/>
          <p:cNvSpPr/>
          <p:nvPr/>
        </p:nvSpPr>
        <p:spPr>
          <a:xfrm>
            <a:off x="0" y="0"/>
            <a:ext cx="952500" cy="952500"/>
          </a:xfrm>
          <a:prstGeom prst="rect">
            <a:avLst/>
          </a:prstGeom>
          <a:solidFill>
            <a:srgbClr val="000000"/>
          </a:solidFill>
        </p:spPr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lstStyle/>
          <a:p>
            <a:r>
              <a:rPr lang="en-GB"/>
              <a:t>Launch day</a:t>
            </a:r>
          </a:p>
        </p:txBody>
      </p:sp>
      <p:sp>
        <p:nvSpPr>
          <p:cNvPr id="3" name="Subtitle 2"/>
          <p:cNvSpPr/>
          <p:nvPr>
            <p:ph type="subTitle" idx="1"/>
          </p:nvPr>
        </p:nvSpPr>
        <p:spPr/>
        <p:txBody>
          <a:bodyPr/>
          <a:lstStyle/>
          <a:p>
            <a:r>
              <a:rPr lang="en-GB"/>
              <a:t>Doors open at ten</a:t>
            </a:r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4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4762500" cy="2857500"/>
          </a:xfrm>
          <a:prstGeom prst="rect">
            <a:avLst/>
          </a:prstGeom>
          <a:noFill/>
        </p:spPr>
        <p:txBody>
          <a:bodyPr lIns="0" tIns="0" rIns="0" bIns="0"/>
          <a:lstStyle>
            <a:lvl2pPr marL="742950" indent="-285750">
              <a:buFont typeface="Arial"/>
              <a:buChar char="–"/>
            </a:lvl2pPr>
            <a:lvl3pPr marL="1143000" indent="-228600">
              <a:buFont typeface="Arial"/>
              <a:buChar char="▪"/>
            </a:lvl3pPr>
          </a:lstStyle>
          <a:p>
            <a:pPr marL="342900" indent="-342900">
              <a:buFont typeface="Arial"/>
              <a:buChar char="•"/>
            </a:pPr>
            <a:r>
              <a:rPr lang="en-GB" sz="2400">
                <a:latin typeface="Lora"/>
              </a:rPr>
              <a:t>Plan</a:t>
            </a:r>
          </a:p>
          <a:p>
            <a:pPr lvl="1"/>
            <a:r>
              <a:rPr lang="en-GB" sz="2400">
                <a:latin typeface="Lora"/>
              </a:rPr>
              <a:t>Draft</a:t>
            </a:r>
          </a:p>
          <a:p>
            <a:pPr lvl="2"/>
            <a:r>
              <a:rPr lang="en-GB" sz="2400">
                <a:latin typeface="Lora"/>
              </a:rPr>
              <a:t>Review</a:t>
            </a:r>
          </a:p>
          <a:p>
            <a:pPr marL="342900" indent="-342900">
              <a:buAutoNum type="arabicPeriod" startAt="4"/>
            </a:pPr>
            <a:r>
              <a:rPr lang="en-GB" sz="2400">
                <a:latin typeface="Lora"/>
              </a:rPr>
              <a:t>Fourth</a:t>
            </a:r>
          </a:p>
          <a:p>
            <a:pPr marL="342900" indent="-342900">
              <a:buAutoNum type="arabicPeriod" startAt="4"/>
            </a:pPr>
            <a:r>
              <a:rPr lang="en-GB" sz="2400">
                <a:latin typeface="Lora"/>
              </a:rPr>
              <a:t>Fifth</a:t>
            </a:r>
          </a:p>
          <a:p>
            <a:pPr>
              <a:buNone/>
            </a:pPr>
            <a:r>
              <a:rPr lang="en-GB" sz="2400">
                <a:latin typeface="Lora"/>
              </a:rPr>
              <a:t>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0" y="952500"/>
            <a:ext cx="4762500" cy="1905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GB" sz="2400" spc="300">
                <a:latin typeface="Lora"/>
              </a:rPr>
              <a:t>Read the </a:t>
            </a:r>
            <a:r>
              <a:rPr lang="en-GB" sz="2400" spc="300" strike="sngStrike">
                <a:latin typeface="Lora"/>
              </a:rPr>
              <a:t>old</a:t>
            </a:r>
            <a:r>
              <a:rPr lang="en-GB" sz="2400" spc="300">
                <a:latin typeface="Lora"/>
              </a:rPr>
              <a:t> news first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GB" sz="2400" spc="300">
                <a:latin typeface="Lora"/>
              </a:rPr>
              <a:t>Visit </a:t>
            </a:r>
            <a:r>
              <a:rPr lang="en-GB" sz="2400" spc="300">
                <a:latin typeface="Lora"/>
                <a:hlinkClick r:id="rId2"/>
              </a:rPr>
              <a:t>our site</a:t>
            </a:r>
            <a:r>
              <a:rPr lang="en-GB" sz="2400" spc="300">
                <a:latin typeface="Lora"/>
              </a:rPr>
              <a:t> or </a:t>
            </a:r>
            <a:r>
              <a:rPr lang="en-GB" sz="2400" spc="300">
                <a:latin typeface="Lora"/>
                <a:hlinkClick r:id="rId3" action="ppaction://hlinksldjump"/>
              </a:rPr>
              <a:t>slide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3810000"/>
            <a:ext cx="4762500" cy="952500"/>
          </a:xfrm>
          <a:prstGeom prst="rect">
            <a:avLst/>
          </a:prstGeom>
          <a:noFill/>
        </p:spPr>
        <p:txBody>
          <a:bodyPr lIns="0" tIns="0" rIns="0" bIns="0">
            <a:normAutofit fontScale="62500" lnSpcReduction="20000"/>
          </a:bodyPr>
          <a:lstStyle/>
          <a:p>
            <a:pPr algn="l"/>
            <a:r>
              <a:rPr lang="en-GB" sz="4800">
                <a:latin typeface="Lora"/>
              </a:rPr>
              <a:t>Shrunk to fit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